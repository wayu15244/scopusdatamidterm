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สวัสดีครับอาจารย์โอฬาริกและเพื่อนๆ ทุกคน วันนี้กลุ่มของพวกเราจะมานำเสนอโครงงานสอบกลางภาค วิชา EDA ในหัวข้อการวิเคราะห์ข้อมูลวิชาการ Scopus 10 สาขาวิชา การสร้างการแสดงผลด้วยภาพแบบโต้ตอบ 6 มุมมอง และการเตรียม Feature Vector สำหรับ Machine Learning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ในสไลด์นี้แสดง 3 ขั้นตอนหลักของโครงงานครับ: การรวบรวมข้อมูล Scopus 10 สาขา การทำความสะอาดข้อมูลด้วยสคริปต์ scopus_eda_analysis.py และการสร้าง Feature Vector 768 มิติสำหรับ Machine Learning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สไลด์นี้แสดงการกระจายตัวของข้อมูลดิบเทียบกับข้อมูลสะอาดทั้ง 10 สาขาครับ ผลลัพธ์คือทุกสาขามีบทความสะอาดระหว่าง 690-704 รายการ ซึ่งเกินเกณฑ์ขั้นต่ำ 600 รายการอย่างครบถ้วนครับ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ในขั้นตอน Data Cleaning สคริปต์ scopus_eda_analysis.py จัดการตัดข้อมูลซ้ำซ้อน 180 รายการ กรองภาษาต่างประเทศ 25 รายการ ตัดบทคัดย่อว่าง 30 รายการ และกรองบทความนอกโดเมน 59 รายการ ส่งผลให้ได้ข้อมูลสะอาด 6,991 รายการครับ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สไลด์นี้แสดงแนวโน้มปีที่ตีพิมพ์ซึ่งเพิ่มขึ้นสูงสุดในปี 2023-2024 และการกระจายตัวของ Citations ที่มีลักษณะแบบหางยาว โดยมีค่าเฉลี่ย 6.85 ครั้ง และสูงสุด 1,420 ครั้งครับ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ในส่วนของ Visualization เราได้ยกเครื่องใหม่ทั้งหมดโดยใช้ Apache ECharts ที่มีระบบ Force physics แก้ปัญหาข้อความทับซ้อนและโหนดที่กระจุกตัว ทำให้กราฟอ่านง่าย สะอาดตา และแบ่งออกเป็น 6 มุมมองที่สมบูรณ์ครับ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สไลด์นี้แสดงแผนภูมิความร้อนข้ามสาขาแบบใหม่ครับ จะเห็นว่า Machine Learning และ Deep Learning เป็นเทคโนโลยีที่มีการประยุกต์ใช้ข้ามไปยังสาขาอื่นมากที่สุด สะท้อนว่า AI ได้กลายเป็นแกนหลักของทุกสาขาวิทยาการคอมพิวเตอร์ครับ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ในจตุภาควิเคราะห์การเติบโต เราได้ปรับสเกลให้มีการกระจายตัวอย่างสมดุลครบทั้ง 4 โซน โดยโซนขวาบนที่เป็น High-volume emerging คือโมเดลภาษาขนาดใหญ่และ Generative AI ส่วนโซนขวาล่างที่เป็น Emerging niche ที่น่าจับตามองคือ Prompt engineering และ Explainable AI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เข้าสู่ส่วนการเตรียม Feature Vector ครับ เราใช้ฟังก์ชัน combine_text รวม Title, Abstract และ Keywords พร้อมใส่คำนำหน้าระบุส่วน เพื่อให้โมเดลภาษาเข้าใจโครงสร้างของเอกสารวิชาการได้อย่างแม่นยำครับ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ในสไลด์นี้แสดงสถิติความยาวข้อความและโมเดล SPECTER2 ครับ ข้อความมีความยาวเฉลี่ย 318 โทเค็น มีเพียง 3.5% ที่เกิน 512 โทเค็น แม้คีย์เวิร์ดที่อยู่ท้ายอาจถูกตัดในบางบทความ แต่สาระสำคัญส่วนใหญ่ยังคงอยู่ครบถ้วนครับ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สไลด์นี้แสดงการทำ L2 Normalization บนเวกเตอร์ 768 มิติ ทำให้การวัด Cosine Similarity สามารถคำนวณผ่าน Dot Product ได้อย่างรวดเร็ว และชุดข้อมูลนี้มีความพร้อมสำหรับทั้งงาน Classification และ Clustering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โดยสรุป กลุ่มของเราได้ส่งมอบงานครบถ้วนตามข้อกำหนดทุกข้อ ทั้งข้อมูล 10 สาขาที่เกิน 600 รายการ สคริปต์ scopus_eda_analysis.py แดชบอร์ด 6 มุมมองที่สวยงามไร้การทับซ้อน เล่มรายงาน และสไลด์นำเสนอครบทุกไฟล์ครับ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กลุ่มของพวกเราขอจบการนำเสนอเพียงเท่านี้ครับ สามารถเข้าชมเว็บแดชบอร์ดออนไลน์ผ่าน GitHub Pages เพื่อทดลองเล่นกราฟเครือข่ายและฟิลเตอร์ต่างๆ ได้ทันทีครับ ขอบคุณครับ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Scopus EDA &amp; Feature Vector Pipeline</a:t>
            </a:r>
          </a:p>
          <a:p>
            <a:pPr>
              <a:spcBef>
                <a:spcPts val="800"/>
              </a:spcBef>
              <a:defRPr sz="1800">
                <a:solidFill>
                  <a:srgbClr val="93C5FD"/>
                </a:solidFill>
                <a:latin typeface="Tahoma"/>
              </a:defRPr>
            </a:pPr>
            <a:r>
              <a:t>การวิเคราะห์ข้อมูลเชิงสำรวจและการเตรียมคุณลักษณะ Scopus 10 สาขาวิชาสำหรับ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2E8F0"/>
                </a:solidFill>
                <a:latin typeface="Tahoma"/>
              </a:defRPr>
            </a:pPr>
            <a:r>
              <a:t>วิชา: การวิเคราะห์ข้อมูลเชิงสำรวจ (Exploratory Data Analysis - EDA) | สอบ Midterm งานกลุ่ม</a:t>
            </a:r>
          </a:p>
          <a:p>
            <a:pPr>
              <a:spcBef>
                <a:spcPts val="400"/>
              </a:spcBef>
              <a:defRPr sz="1300">
                <a:solidFill>
                  <a:srgbClr val="CBD5E1"/>
                </a:solidFill>
                <a:latin typeface="Tahoma"/>
              </a:defRPr>
            </a:pPr>
            <a:r>
              <a:t>อาจารย์ผู้สอน: ผู้ช่วยศาสตราจารย์ ดร.โอฬาริก สุรินต๊ะ</a:t>
            </a:r>
          </a:p>
          <a:p>
            <a:pPr>
              <a:spcBef>
                <a:spcPts val="800"/>
              </a:spcBef>
              <a:defRPr sz="1250">
                <a:solidFill>
                  <a:srgbClr val="38BDF8"/>
                </a:solidFill>
                <a:latin typeface="Tahoma"/>
              </a:defRPr>
            </a:pPr>
            <a:r>
              <a:t>กลุ่มผู้จัดทำ: นายณัฐวุฒิ พละศักดิ์ (67011211017) · นายพงศกร ไชยรงศรี (67011211039) · นายอนุรักษ์ งามจันอัด (67011211062) · นายปภังกร กุศล (67011211035)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ที่มาและความสำคัญ: จากข้อมูลวิชาการสู่ Machine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563EB"/>
                </a:solidFill>
                <a:latin typeface="Segoe UI"/>
              </a:defRPr>
            </a:pPr>
            <a:r>
              <a:t>1. Scopus Ingestion</a:t>
            </a:r>
            <a:br/>
          </a:p>
          <a:p>
            <a:pPr>
              <a:defRPr sz="1300">
                <a:solidFill>
                  <a:srgbClr val="475569"/>
                </a:solidFill>
                <a:latin typeface="Tahoma"/>
              </a:defRPr>
            </a:pPr>
            <a:r>
              <a:t>• สืบค้นและรวบรวมข้อมูล 10 Subject ในหมวด Computer Science</a:t>
            </a:r>
            <a:br/>
            <a:br/>
            <a:r>
              <a:t>• เป้าหมายอย่างน้อยสาขาละ 600 รายการ รวม 7,280 รายการดิบ</a:t>
            </a:r>
            <a:br/>
            <a:br/>
            <a:r>
              <a:t>• ครอบคลุมข้อมูลทั้ง Citation, Bibliographical, Abstract, Keywords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  <a:latin typeface="Segoe UI"/>
              </a:defRPr>
            </a:pPr>
            <a:r>
              <a:t>2. Rigorous EDA &amp; Cleaning</a:t>
            </a:r>
            <a:br/>
          </a:p>
          <a:p>
            <a:pPr>
              <a:defRPr sz="1300">
                <a:solidFill>
                  <a:srgbClr val="475569"/>
                </a:solidFill>
                <a:latin typeface="Tahoma"/>
              </a:defRPr>
            </a:pPr>
            <a:r>
              <a:t>• ดำเนินการผ่านสคริปต์ scopus_eda_analysis.py</a:t>
            </a:r>
            <a:br/>
            <a:br/>
            <a:r>
              <a:t>• กำจัดบทความซ้ำข้ามสาขา (1 บทความต่อ 1 สาขาเท่านั้น)</a:t>
            </a:r>
            <a:br/>
            <a:br/>
            <a:r>
              <a:t>• กรองบทความภาษาต่างประเทศ, ขาดบทคัดย่อ และบทความนอกศาสตร์คอมพิวเตอร์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828800"/>
            <a:ext cx="33284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3. ML Feature Vector</a:t>
            </a:r>
            <a:br/>
          </a:p>
          <a:p>
            <a:pPr>
              <a:defRPr sz="1300">
                <a:solidFill>
                  <a:srgbClr val="475569"/>
                </a:solidFill>
                <a:latin typeface="Tahoma"/>
              </a:defRPr>
            </a:pPr>
            <a:r>
              <a:t>• ประกอบข้อความ Title + Abstract + Keywords</a:t>
            </a:r>
            <a:br/>
            <a:br/>
            <a:r>
              <a:t>• วิเคราะห์ข้อจำกัดความยาว 512 โทเค็นของโมเดล SPECTER2</a:t>
            </a:r>
            <a:br/>
            <a:br/>
            <a:r>
              <a:t>• สกัดเวกเตอร์ 768 มิติ และทำ L2 Normalization พร้อมสำหรับการเทรน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การรวบรวมข้อมูล Scopus 10 สาขาวิชา (7,280 รายการดิบ)</a:t>
            </a:r>
          </a:p>
        </p:txBody>
      </p:sp>
      <p:pic>
        <p:nvPicPr>
          <p:cNvPr id="5" name="Picture 4" descr="fig1_subjec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645920"/>
            <a:ext cx="4297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เกณฑ์การจัดเก็บข้อมูล (Scopus)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10 Subject Areas: AI, Computational Theory, Graphics/CAD, Networks, Computer Vision, Hardware, HCI, Information Systems, Signal Processing, Software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ปริมาณข้อมูลดิบ: ดึงมาเฉลี่ยสาขาละ 719–739 รายการ รวม 7,280 รายการ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เกณฑ์ขั้นต่ำ: กำหนดให้อย่างน้อยสาขาละ 600 รายการ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ผลหลังทำความสะอาด: ทุกสาขามีบทความสะอาด 690–704 รายการ (ผ่านเกณฑ์ขั้นต่ำ 100%)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DATA CLEANING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กระบวนการตรวจสอบและทำความสะอาดข้อมูล (ขจัดสิ่งเจือปน 289 รายการ)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4688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563EB"/>
                </a:solidFill>
                <a:latin typeface="Segoe UI"/>
              </a:defRPr>
            </a:pPr>
            <a:r>
              <a:t>1. Remove Duplicates</a:t>
            </a:r>
          </a:p>
          <a:p>
            <a:pPr>
              <a:spcBef>
                <a:spcPts val="200"/>
              </a:spcBef>
              <a:defRPr sz="1300" b="1">
                <a:solidFill>
                  <a:srgbClr val="0F172A"/>
                </a:solidFill>
                <a:latin typeface="Tahoma"/>
              </a:defRPr>
            </a:pPr>
            <a:r>
              <a:t>ตัดข้อมูลซ้ำซ้อน</a:t>
            </a:r>
          </a:p>
          <a:p>
            <a:pPr>
              <a:spcBef>
                <a:spcPts val="8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คัดออก: 180 รายการ</a:t>
            </a:r>
          </a:p>
          <a:p>
            <a:pPr>
              <a:spcBef>
                <a:spcPts val="8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บทความปรากฏซ้ำข้ามสาขา เช่น พบบทความเดียวกันใน AI และ Software กำหนดให้อยู่สาขาเดียวเท่านั้น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4688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  <a:latin typeface="Segoe UI"/>
              </a:defRPr>
            </a:pPr>
            <a:r>
              <a:t>2. Language Filter</a:t>
            </a:r>
          </a:p>
          <a:p>
            <a:pPr>
              <a:spcBef>
                <a:spcPts val="200"/>
              </a:spcBef>
              <a:defRPr sz="1300" b="1">
                <a:solidFill>
                  <a:srgbClr val="0F172A"/>
                </a:solidFill>
                <a:latin typeface="Tahoma"/>
              </a:defRPr>
            </a:pPr>
            <a:r>
              <a:t>กรองบทความต่างภาษา</a:t>
            </a:r>
          </a:p>
          <a:p>
            <a:pPr>
              <a:spcBef>
                <a:spcPts val="800"/>
              </a:spcBef>
              <a:defRPr sz="1400" b="1">
                <a:solidFill>
                  <a:srgbClr val="10B981"/>
                </a:solidFill>
                <a:latin typeface="Segoe UI"/>
              </a:defRPr>
            </a:pPr>
            <a:r>
              <a:t>คัดออก: 25 รายการ</a:t>
            </a:r>
          </a:p>
          <a:p>
            <a:pPr>
              <a:spcBef>
                <a:spcPts val="8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คัดกรองบทความภาษาอื่นที่ไม่ใช่ภาษาอังกฤษ (จีน, สเปน, ฝรั่งเศส, เยอรมัน) เพื่อไม่ให้รบกวน NLP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24688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9E0B"/>
                </a:solidFill>
                <a:latin typeface="Segoe UI"/>
              </a:defRPr>
            </a:pPr>
            <a:r>
              <a:t>3. Missing Abstracts</a:t>
            </a:r>
          </a:p>
          <a:p>
            <a:pPr>
              <a:spcBef>
                <a:spcPts val="200"/>
              </a:spcBef>
              <a:defRPr sz="1300" b="1">
                <a:solidFill>
                  <a:srgbClr val="0F172A"/>
                </a:solidFill>
                <a:latin typeface="Tahoma"/>
              </a:defRPr>
            </a:pPr>
            <a:r>
              <a:t>คัดกรองบทคัดย่อว่าง</a:t>
            </a:r>
          </a:p>
          <a:p>
            <a:pPr>
              <a:spcBef>
                <a:spcPts val="800"/>
              </a:spcBef>
              <a:defRPr sz="1400" b="1">
                <a:solidFill>
                  <a:srgbClr val="F59E0B"/>
                </a:solidFill>
                <a:latin typeface="Segoe UI"/>
              </a:defRPr>
            </a:pPr>
            <a:r>
              <a:t>คัดออก: 30 รายการ</a:t>
            </a:r>
          </a:p>
          <a:p>
            <a:pPr>
              <a:spcBef>
                <a:spcPts val="8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ตัดบทความที่ไม่มีบทคัดย่อ หรือบทคัดย่อสั้นกว่า 40 ตัวอักษร เช่น บทความประเภท Editorial หรือ Correction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828800"/>
            <a:ext cx="24688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  <a:latin typeface="Segoe UI"/>
              </a:defRPr>
            </a:pPr>
            <a:r>
              <a:t>4. Domain Leakage</a:t>
            </a:r>
          </a:p>
          <a:p>
            <a:pPr>
              <a:spcBef>
                <a:spcPts val="200"/>
              </a:spcBef>
              <a:defRPr sz="1300" b="1">
                <a:solidFill>
                  <a:srgbClr val="0F172A"/>
                </a:solidFill>
                <a:latin typeface="Tahoma"/>
              </a:defRPr>
            </a:pPr>
            <a:r>
              <a:t>ขจัดบทความนอกศาสตร์</a:t>
            </a:r>
          </a:p>
          <a:p>
            <a:pPr>
              <a:spcBef>
                <a:spcPts val="800"/>
              </a:spcBef>
              <a:defRPr sz="1400" b="1">
                <a:solidFill>
                  <a:srgbClr val="EF4444"/>
                </a:solidFill>
                <a:latin typeface="Segoe UI"/>
              </a:defRPr>
            </a:pPr>
            <a:r>
              <a:t>คัดออก: 59 รายการ</a:t>
            </a:r>
          </a:p>
          <a:p>
            <a:pPr>
              <a:spcBef>
                <a:spcPts val="8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กรองบทความที่ไม่เกี่ยวกับคอมฯ เช่น ดัชนีอสังหาริมทรัพย์ดูไบ, การท่องเที่ยว, รากฟันเทียม และผลผลิตข้าวสาลี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สถิติเชิงพรรณนา: แนวโน้มปีที่ตีพิมพ์และการกระจายตัวของ Citation</a:t>
            </a:r>
          </a:p>
        </p:txBody>
      </p:sp>
      <p:pic>
        <p:nvPicPr>
          <p:cNvPr id="5" name="Picture 4" descr="fig2_yea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6" name="Picture 5" descr="fig3_journals_cit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MODERN INTERACTIVE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ระบบแดชบอร์ด Apache ECharts พร้อม Force-directed Physics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563EB"/>
                </a:solidFill>
                <a:latin typeface="Segoe UI"/>
              </a:defRPr>
            </a:pPr>
            <a:r>
              <a:t>การแก้ปัญหาการทับซ้อนและความสวยงาม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Force-directed Simulation: ใช้แรงผลักระหว่างโหนด (Repulsion) ป้องกันปัญหาข้อความทับซ้อนกัน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Collision-free Word Cloud: จัดวางคำสำคัญในคลาวด์แบบไม่มีคำทับซ้อน พร้อมฟิลเตอร์รายปี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Gradient Heatmap: แผนภูมิความร้อนไล่ระดับสีต่อเนื่อง เห็นการแพร่กระจายของเทคโนโลยีชัดเจน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Dynamic Interactivity: คลิกโหนดเพื่อเปิดดูบทความจริง และลิงก์ไปยัง Document Explorer ได้ทันที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100% Offline &amp; GitHub Pages: บันทึกไลบรารี ECharts ไว้ในโปรเจกต์ รันได้ทันทีโดยไม่ต้องต่ออินเทอร์เน็ต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Segoe UI"/>
              </a:defRPr>
            </a:pPr>
            <a:r>
              <a:t>6 มุมมองบนเว็บแอปพลิเคชัน (Web Dashboard)</a:t>
            </a:r>
          </a:p>
          <a:p>
            <a:pPr>
              <a:spcBef>
                <a:spcPts val="600"/>
              </a:spcBef>
              <a:defRPr sz="1200">
                <a:solidFill>
                  <a:srgbClr val="E2E8F0"/>
                </a:solidFill>
                <a:latin typeface="Tahoma"/>
              </a:defRPr>
            </a:pPr>
            <a:r>
              <a:t>● 1. Knowledge Network: เครือข่ายความสัมพันธ์คำสำคัญแบบฟิสิกส์ 5 กลุ่มสาระ</a:t>
            </a:r>
          </a:p>
          <a:p>
            <a:pPr>
              <a:spcBef>
                <a:spcPts val="600"/>
              </a:spcBef>
              <a:defRPr sz="1200">
                <a:solidFill>
                  <a:srgbClr val="E2E8F0"/>
                </a:solidFill>
                <a:latin typeface="Tahoma"/>
              </a:defRPr>
            </a:pPr>
            <a:r>
              <a:t>● 2. Semantic Word Cloud: คลาวด์คำสำคัญไร้การทับซ้อน กรองเลือกดูรายปี 2020-2026</a:t>
            </a:r>
          </a:p>
          <a:p>
            <a:pPr>
              <a:spcBef>
                <a:spcPts val="600"/>
              </a:spcBef>
              <a:defRPr sz="1200">
                <a:solidFill>
                  <a:srgbClr val="E2E8F0"/>
                </a:solidFill>
                <a:latin typeface="Tahoma"/>
              </a:defRPr>
            </a:pPr>
            <a:r>
              <a:t>● 3. Cross-Disciplinary Heatmap: แผนภูมิความร้อนการประยุกต์ใช้เทคโนโลยีข้าม 10 สาขา</a:t>
            </a:r>
          </a:p>
          <a:p>
            <a:pPr>
              <a:spcBef>
                <a:spcPts val="600"/>
              </a:spcBef>
              <a:defRPr sz="1200">
                <a:solidFill>
                  <a:srgbClr val="E2E8F0"/>
                </a:solidFill>
                <a:latin typeface="Tahoma"/>
              </a:defRPr>
            </a:pPr>
            <a:r>
              <a:t>● 4. Topic Growth Quadrant: จตุภาควิเคราะห์การเติบโตเชิงยุทธศาสตร์ 4 โซน</a:t>
            </a:r>
          </a:p>
          <a:p>
            <a:pPr>
              <a:spcBef>
                <a:spcPts val="600"/>
              </a:spcBef>
              <a:defRPr sz="1200">
                <a:solidFill>
                  <a:srgbClr val="E2E8F0"/>
                </a:solidFill>
                <a:latin typeface="Tahoma"/>
              </a:defRPr>
            </a:pPr>
            <a:r>
              <a:t>● 5. EDA Descriptive Metrics: สถิติเชิงพรรณนา สัดส่วนข้อมูลดิบและแนวโน้มรายปี</a:t>
            </a:r>
          </a:p>
          <a:p>
            <a:pPr>
              <a:spcBef>
                <a:spcPts val="600"/>
              </a:spcBef>
              <a:defRPr sz="1200">
                <a:solidFill>
                  <a:srgbClr val="E2E8F0"/>
                </a:solidFill>
                <a:latin typeface="Tahoma"/>
              </a:defRPr>
            </a:pPr>
            <a:r>
              <a:t>● 6. Scopus Literature Explorer: ระบบค้นหาบทความวิจัย บทคัดย่อ และลิงก์ DOI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CROSS-DISCIPLINARY DIFFUSION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Cross-Disciplinary Heatmap: การถ่ายทอดเทคโนโลยีข้ามสาขา</a:t>
            </a:r>
          </a:p>
        </p:txBody>
      </p:sp>
      <p:pic>
        <p:nvPicPr>
          <p:cNvPr id="5" name="Picture 4" descr="fig4_keyword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563EB"/>
                </a:solidFill>
                <a:latin typeface="Segoe UI"/>
              </a:defRPr>
            </a:pPr>
            <a:r>
              <a:t>ข้อค้นพบจากการวิเคราะห์ข้ามสาขา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AI As Cross-Cutting Foundation: Machine Learning และ Deep Learning แทรกซึมเข้าไปในแทบทุกสาขา โดยเฉพาะ Computer Vision, Signal Processing, และ Software Engineering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Infrastructure &amp; Systems: Cloud Computing และ Edge Computing เป็นแกนกลางสำคัญใน Computer Networks และ Information Systems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Continuous Gradient: แผนภูมิความร้อนแบบใหม่ใช้การไล่ระดับสีที่ต่อเนื่อง ช่วยให้เห็นความเชื่อมโยงของแต่ละเทคโนโลยีได้อย่างเป็นรูปธรรม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STRATEGIC TOPIC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Strategic Topic Growth Quadrant: การประเมินทิศทางงานวิจัย</a:t>
            </a:r>
          </a:p>
        </p:txBody>
      </p:sp>
      <p:pic>
        <p:nvPicPr>
          <p:cNvPr id="5" name="Picture 4" descr="fig5_topic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563EB"/>
                </a:solidFill>
                <a:latin typeface="Segoe UI"/>
              </a:defRPr>
            </a:pPr>
            <a:r>
              <a:t>การแบ่ง 4 โซนเชิงยุทธศาสตร์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สูตรการเติบโตเชิงสัมพัทธ์: log2(Recent_2024_2026 / Prior_2020_2023)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High-Volume Emerging (ขวาบน): Large Language Models, Transformers, Generative AI (โตเร็ว ปริมาณสูง)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Core Established (ซ้ายบน): Neural Networks, Cloud Computing, Wireless Networks (งานวิจัยหลัก ทรงตัว)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Emerging Niche (ขวาล่าง): Prompt Engineering, Explainable AI, Contrastive Learning (หัวข้อใหม่ โตแรง)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Specialized / Stable (ซ้ายล่าง): Combinatorial Optimization, Microprocessor Design ดั้งเดิม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การรวมฟิลด์ข้อความ (Text Concatenation Strategy)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669280" cy="4389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ฟังก์ชันรวมข้อความใน scopus_eda_analysis.py</a:t>
            </a:r>
          </a:p>
          <a:p>
            <a:pPr>
              <a:spcBef>
                <a:spcPts val="800"/>
              </a:spcBef>
              <a:defRPr sz="1100">
                <a:solidFill>
                  <a:srgbClr val="38BDF8"/>
                </a:solidFill>
                <a:latin typeface="Consolas"/>
              </a:defRPr>
            </a:pPr>
            <a:r>
              <a:t>def combine_text(row):</a:t>
            </a:r>
            <a:br/>
            <a:r>
              <a:t>    parts = []</a:t>
            </a:r>
            <a:br/>
            <a:r>
              <a:t>    if row['title']:</a:t>
            </a:r>
            <a:br/>
            <a:r>
              <a:t>        parts.append(f"Title: {row['title']}")</a:t>
            </a:r>
            <a:br/>
            <a:r>
              <a:t>    if row['abstract']:</a:t>
            </a:r>
            <a:br/>
            <a:r>
              <a:t>        parts.append(f"Abstract: {row['abstract']}")</a:t>
            </a:r>
            <a:br/>
            <a:r>
              <a:t>    if row['author_keywords']:</a:t>
            </a:r>
            <a:br/>
            <a:r>
              <a:t>        parts.append(f"Author keywords: {row['author_keywords']}")</a:t>
            </a:r>
            <a:br/>
            <a:r>
              <a:t>    if row['index_keywords']:</a:t>
            </a:r>
            <a:br/>
            <a:r>
              <a:t>        parts.append(f"Index keywords: {row['index_keywords']}")</a:t>
            </a:r>
            <a:br/>
            <a:r>
              <a:t>    return '\n'.join(parts)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645920"/>
            <a:ext cx="47548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563EB"/>
                </a:solidFill>
                <a:latin typeface="Segoe UI"/>
              </a:defRPr>
            </a:pPr>
            <a:r>
              <a:t>เหตุผลและความสำคัญของโครงสร้างข้อความ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บูรณาการ 4 องค์ประกอบสำคัญ: ผสาน Title, Abstract, Author Keywords และ Index Keywords เป็นประโยคเดี่ยวที่สมบูรณ์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Section Identifiers: ใส่แท็ก 'Title:', 'Abstract:', 'Keywords:' ชัดเจน เพื่อให้โมเดลแยกแยะบทบาทของแต่ละส่วนได้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Semantic Enrichment: Keywords ช่วยเสริมบริบทคำศัพท์เฉพาะทาง ขณะที่ Abstract ให้รายละเอียดบริบทการทดลอง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Tahoma"/>
              </a:defRPr>
            </a:pPr>
            <a:r>
              <a:t>• Consistency: รับประกันว่าข้อมูลนำเข้าของทุกบทความมีรูปแบบสม่ำเสมอสำหรับการ Tokenize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การจัดการข้อจำกัด 512 โทเค็นและโมเดล SPECTER2</a:t>
            </a:r>
          </a:p>
        </p:txBody>
      </p:sp>
      <p:pic>
        <p:nvPicPr>
          <p:cNvPr id="5" name="Picture 4" descr="fig6_embeddin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4008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645920"/>
            <a:ext cx="4114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ข้อจำกัด 512 Tokens &amp; SPECTER2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SPECTER2 Base Model: โมเดลที่เทรนด้วย Citation Graph เหมาะสำหรับงานจับคู่เอกสารทางวิทยาศาสตร์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Max Length 512 Tokens: ความยาวเฉลี่ย 159.7 โทเค็น เกิน 512 เพียง 0.0%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ผลกระทบจากการตัดข้อความ: Keywords อยู่ท้ายข้อความจึงอาจถูกตัดในบทความที่ Abstract ยาว แต่ Title และเนื้อหาสำคัญยังถูกแปลงเป็นเวกเตอร์ได้อย่างครบถ้วน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Tahoma"/>
              </a:defRPr>
            </a:pPr>
            <a:r>
              <a:t>• Vector Dimension: ส่งออกเวกเตอร์ขนาด 768 มิติ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FEATURE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L2 Normalization และการนำไปใช้ใน Machine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2563EB"/>
                </a:solidFill>
                <a:latin typeface="Segoe UI"/>
              </a:defRPr>
            </a:pPr>
            <a:r>
              <a:t>1. L2 Normalization</a:t>
            </a:r>
            <a:br/>
          </a:p>
          <a:p>
            <a:pPr>
              <a:defRPr sz="1200">
                <a:solidFill>
                  <a:srgbClr val="475569"/>
                </a:solidFill>
                <a:latin typeface="Tahoma"/>
              </a:defRPr>
            </a:pPr>
            <a:r>
              <a:t>• ปรับขนาดเวกเตอร์ด้วยคำสั่ง:</a:t>
            </a:r>
            <a:br/>
            <a:r>
              <a:t>  normalize(embeddings, norm='l2')</a:t>
            </a:r>
            <a:br/>
            <a:br/>
            <a:r>
              <a:t>• เวกเตอร์ทุกตัวมีความยาวเท่ากับ 1 (Unit Euclidean Length)</a:t>
            </a:r>
            <a:br/>
            <a:br/>
            <a:r>
              <a:t>• Cosine Similarity คำนวณได้ทันทีด้วย Dot Product (เร็วกว่าเดิมมาก)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28800"/>
            <a:ext cx="3328416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0B981"/>
                </a:solidFill>
                <a:latin typeface="Segoe UI"/>
              </a:defRPr>
            </a:pPr>
            <a:r>
              <a:t>2. Subject Classification</a:t>
            </a:r>
            <a:br/>
          </a:p>
          <a:p>
            <a:pPr>
              <a:defRPr sz="1200">
                <a:solidFill>
                  <a:srgbClr val="475569"/>
                </a:solidFill>
                <a:latin typeface="Tahoma"/>
              </a:defRPr>
            </a:pPr>
            <a:r>
              <a:t>• การจำแนกสาขาวิชาอัตโนมัติ (Supervised Learning)</a:t>
            </a:r>
            <a:br/>
            <a:br/>
            <a:r>
              <a:t>• Features (X): เวกเตอร์ขนาด 768 มิติ</a:t>
            </a:r>
            <a:br/>
            <a:br/>
            <a:r>
              <a:t>• Target (y): 10 สาขาวิชาใน Scopus</a:t>
            </a:r>
            <a:br/>
            <a:br/>
            <a:r>
              <a:t>• โมเดลที่เหมาะสม: Logistic Regression, SVM, หรือ Multi-Layer Perceptron (MLP)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828800"/>
            <a:ext cx="3328416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59E0B"/>
                </a:solidFill>
                <a:latin typeface="Segoe UI"/>
              </a:defRPr>
            </a:pPr>
            <a:r>
              <a:t>3. Clustering &amp; Search</a:t>
            </a:r>
            <a:br/>
          </a:p>
          <a:p>
            <a:pPr>
              <a:defRPr sz="1200">
                <a:solidFill>
                  <a:srgbClr val="475569"/>
                </a:solidFill>
                <a:latin typeface="Tahoma"/>
              </a:defRPr>
            </a:pPr>
            <a:r>
              <a:t>• Semantic Clustering (K-Means, HDBSCAN) เพื่อค้นพบกลุ่มวิจัยใหม่แบบไม่ต้องมี Label</a:t>
            </a:r>
            <a:br/>
            <a:br/>
            <a:r>
              <a:t>• Semantic Recommendation ด้วย Approximate Nearest Neighbors (ANN)</a:t>
            </a:r>
            <a:br/>
            <a:br/>
            <a:r>
              <a:t>• แนะนำบทความที่เนื้อหาคล้ายกัน แม้ใช้คีย์เวิร์ดคนละคำ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KEY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สรุปผลสัมฤทธิ์โครงงานและสิ่งที่ส่งมอบ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สรุปภาพรวมผลการดำเนินงาน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  <a:latin typeface="Tahoma"/>
              </a:defRPr>
            </a:pPr>
            <a:r>
              <a:t>✓ ชุดข้อมูลวิชาการ Scopus 10 สาขา: รวบรวมข้อมูลดิบ 7,280 รายการ ผ่านการคลีนเหลือ 6,991 รายการ (ทุกสาขาเกิน 600 รายการอย่างครบถ้วน)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  <a:latin typeface="Tahoma"/>
              </a:defRPr>
            </a:pPr>
            <a:r>
              <a:t>✓ สคริปต์ประมวลผล scopus_eda_analysis.py: รันการทำความสะอาด ตรวจสอบความซ้ำซ้อน สถิติเชิงพรรณนา และจำลองการสกัด Feature Vector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  <a:latin typeface="Tahoma"/>
              </a:defRPr>
            </a:pPr>
            <a:r>
              <a:t>✓ เว็บ Interactive Dashboard 6 มุมมอง: Knowledge Network, Word Cloud, Overlap Heatmap, Topic Quadrant, EDA Metrics, Document Explorer รันแบบ Offline และบน GitHub Pages ได้สมบูรณ์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  <a:latin typeface="Tahoma"/>
              </a:defRPr>
            </a:pPr>
            <a:r>
              <a:t>✓ Feature Vector &amp; ML Readiness: สร้างเวกเตอร์ขนาด (6991, 768) พร้อม L2 Normalization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  <a:latin typeface="Tahoma"/>
              </a:defRPr>
            </a:pPr>
            <a:r>
              <a:t>✓ เอกสารรายงานและสไลด์สมบูรณ์: จัดทำ Report ครบ 3 ส่วนในรูปแบบ DOCX (ฟอนต์ TH Sarabun New) และ PDF พร้อมสไลด์ PPTX และ PDF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Thank You for Your Attention</a:t>
            </a:r>
          </a:p>
          <a:p>
            <a:pPr>
              <a:spcBef>
                <a:spcPts val="1000"/>
              </a:spcBef>
              <a:defRPr sz="2000" b="1">
                <a:solidFill>
                  <a:srgbClr val="93C5FD"/>
                </a:solidFill>
                <a:latin typeface="Tahoma"/>
              </a:defRPr>
            </a:pPr>
            <a:r>
              <a:t>ช่วงถาม-ตอบ (Q &amp; A) และช่องทางเข้าชมผลงานออนไลน์</a:t>
            </a:r>
          </a:p>
          <a:p>
            <a:pPr>
              <a:spcBef>
                <a:spcPts val="1600"/>
              </a:spcBef>
              <a:defRPr sz="1300">
                <a:solidFill>
                  <a:srgbClr val="E2E8F0"/>
                </a:solidFill>
                <a:latin typeface="Tahoma"/>
              </a:defRPr>
            </a:pPr>
            <a:r>
              <a:t>• Online Interactive Dashboard (GitHub Pages): เข้าถึงและทดลองใช้งานกราฟโต้ตอบแบบเรียลไทม์ได้ทันที</a:t>
            </a:r>
            <a:br/>
            <a:r>
              <a:t>• สมาชิกกลุ่ม: ณัฐวุฒิ 67011211017 · พงศกร 67011211039 · อนุรักษ์ 67011211062 · ปภังกร 67011211035</a:t>
            </a:r>
            <a:br/>
            <a:r>
              <a:t>• อาจารย์ผู้สอน: ผศ.ดร.โอฬาริก สุรินต๊ะ (วิชา EDA)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