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สวัสดีครับอาจารย์โอฬาริกและเพื่อนๆ ทุกคน วันนี้กลุ่มของพวกเราจะมานำเสนอโครงงานสอบกลางภาค วิชาการวิเคราะห์ข้อมูลเชิงสำรวจ (EDA) ในหัวข้อการวิเคราะห์ชุดข้อมูลวิชาการ Scopus 10 สาขา การสร้างการแสดงผลด้วยภาพแบบโต้ตอบ 5 มิติ และการสกัด Feature Vector ด้วย SPECTER2 เพื่อเตรียมเทรน Machine Learning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ในสไลด์นี้แสดง 3 เสาหลักของโครงงานครับ: เสาแรกคือการดึงข้อมูลจาก Scopus 10 สาขาวิชา เสาที่สองคือการทำ EDA และ Data Cleaning กำจัดข้อมูลซ้ำซ้อนและข้อมูลที่ไม่เกี่ยวข้องตามกติกาของอาจารย์ และเสาที่สามคือการเตรียมชุดข้อความ สร้าง Feature Vector ขนาด 768 มิติด้วย SPECTER2 เพื่อนำไปต่อยอดกับ Machine Learning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สไลด์นี้แสดงการกระจายตัวของข้อมูลดิบเทียบกับข้อมูลสะอาดทั้ง 10 สาขาครับ เราดึงข้อมูลมาสาขาละประมาณ 720 รายการ เพื่อให้มั่นใจว่าเมื่อผ่านกระบวนการคลีนข้อมูลแล้ว ทุกสาขาจะยังมีจำนวนบทความมากกว่า 600 รายการตามที่อาจารย์กำหนด ซึ่งผลลัพธ์คือทุกสาขาเหลือประมาณ 694-704 รายการ ผ่านเกณฑ์ 100%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ในขั้นตอน Data Cleaning เราได้จัดการกับปัญหา 4 จุดสำคัญครับ: 1. กำจัดบทความซ้ำข้ามสาขา 178 รายการตามกฎของอาจารย์ 2. กรองภาษาที่ไม่ใช่ภาษาอังกฤษออก 25 รายการ 3. ตัดบทความที่ไม่มีบทคัดย่อ 30 รายการ และ 4. กรองบทความนอกโดเมน เช่น อสังหาริมทรัพย์และโรงแรมที่ติดคำค้นหลุดเข้ามา 59 รายการ ทำให้ชุดข้อมูลมีความสะอาดและพร้อมต่อการวิเคราะห์อย่างแท้จริงครับ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สไลด์นี้แสดงสถิติเชิงพรรณนาครับ กราฟด้านซ้ายแสดงแนวโน้มปีที่ตีพิมพ์ พบว่าปริมาณงานวิจัยเติบโตสูงสุดในช่วงปี 2023-2024 ซึ่งสอดคล้องกับยุคตื่นตัวของ Generative AI และโมเดลภาษาขนาดใหญ่ ส่วนกราฟด้านขวาแสดงวารสารชั้นนำ เช่น IEEE TPAMI, ACM TOG และการกระจายตัวของ Citations ที่มีลักษณะเป็น Long-tail distribution โดยมีค่าเฉลี่ย 7.1 ครั้ง และค่าสูงสุดถึง 1,420 ครั้งครับ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 Visualization ตัวแรก คือ Keyword Co-occurrence Network ที่จำลองตามแนวทางของอาจารย์ ขนาดโหนดจะแปรผันตามจำนวนบทความ และความหนาของเส้นแทนการปรากฏร่วมกัน เราใช้อัลกอริทึม Modularity ค้นพบ 5 กลุ่มสาระหลักอย่างชัดเจน และสามารถคลิกที่แต่ละโหนดเพื่อเจาะดูบทความจริงที่อยู่เบื้องหลังได้ครับ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สไลด์นี้แสดง Visualization ตัวที่ 2 และ 3 ครับ แผนภูมิความร้อนด้านซ้ายทำให้เราเห็นสิ่งที่น่าสนใจมาก คือคำว่า Deep Learning ไม่ได้อยู่แค่ในสาขา AI แต่กระจายไปอยู่ใน Computer Vision, Software และ Signal Processing อย่างหนาแน่น พิสูจน์ว่า AI กลายเป็นเครื่องมืออเนกประสงค์ของทุกสาขาในปัจจุบันครับ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Visualization ตัวที่ 4 คือ Strategic Topic Growth Quadrant ซึ่งคำนวณอัตราการเติบโตของคำสำคัญระหว่างช่วงปีล่าสุดเทียบกับช่วงก่อนหน้า ทำให้เราแบ่งกลุ่มหัวข้อวิจัยออกเป็น 4 จตุภาคได้อย่างแม่นยำ โดยกลุ่ม High-volume emerging topics คือโมเดลภาษาขนาดใหญ่ ส่วนกลุ่ม Emerging niche ที่น่าจับตามองคือ Prompt engineering และ Explainable AI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เข้าสู่ส่วนการเตรียม Feature Vector ครับ เราใช้ฟังก์ชัน combine_text ตามสมุดงานของอาจารย์ โดยรวม Title, Abstract, Author keywords และ Index keywords เข้าด้วยกันพร้อมใส่ Prefix กำกับ การจัดโครงสร้างเช่นนี้ช่วยให้โมเดลภาษาเข้าใจลำดับความสำคัญของแต่ละส่วนได้อย่างเป็นธรรมชา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ในสไลด์นี้แสดงสถาปัตยกรรม SPECTER2 และข้อจำกัดความยาว 512 โทเค็นครับ เนื่องจาก SPECTER2 ถูกเทรนด้วย Citation Graph จึงจับความหมายของเปเปอร์วิชาการได้ดีมาก แม้ว่าการวาง Keywords ไว้ท้ายสุดอาจทำให้บางบทความที่มี Abstract ยาวถูกตัดคำสำคัญบางส่วน แต่งานวิจัยระบุว่าเนื้อหาสำคัญใน Title และ Abstract ส่วนใหญ่เพียงพอต่อการสร้างเวกเตอร์ความหมาย 768 มิติที่มีประสิทธิภาพสูงครับ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สไลด์นี้แสดงการทำ L2 Normalization และการนำไปใช้ใน Machine Learning ครับ การทำ L2 norm ทำให้เวกเตอร์ทุกตัวมีความยาว 1 หน่วย ซึ่งทำให้การวัด Cosine Similarity คำนวณได้เร็วมากผ่าน Dot Product และชุดข้อมูล Feature Vector ขนาด 768 มิตินี้พร้อมนำไปทำทั้งการจำแนกสาขา (Classification) และการจัดกลุ่มบทความตามความหมาย (Semantic Clustering) 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โดยสรุป กลุ่มของเราได้ส่งมอบงานครบถ้วนสมบูรณ์ตามข้อกำหนดของอาจารย์ทุกข้อครับ: 1. ชุดข้อมูล 10 สาขา เกิน 600 รายการทุกสาขา 2. ทำความสะอาดข้อมูลซ้ำซ้อนและข้อมูลนอกโดเมนครบถ้วน 3. สร้าง Visualization 5 รูปแบบที่รันได้บนเบราว์เซอร์ทันที 4. เตรียม Feature Vector 768 มิติด้วย SPECTER2 และ L2 Normalization และ 5. จัดทำรายงานฉบับสมบูรณ์และสไลด์ครบทุกไฟล์ครับ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กลุ่มของพวกเราขอจบการนำเสนอเพียงเท่านี้ครับ อาจารย์และเพื่อนๆ สามารถเข้าชมเว็บแดชบอร์ดออนไลน์ผ่าน GitHub Pages เพื่อทดลองเล่นเครือข่ายคำสำคัญและฟิลเตอร์ต่างๆ ได้ทันทีครับ หากมีคำถามหรือข้อเสนอแนะ ยินดีรับฟังและตอบคำถามครับ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Scopus EDA &amp; Feature Vector Pipeline</a:t>
            </a:r>
          </a:p>
          <a:p>
            <a:pPr>
              <a:spcBef>
                <a:spcPts val="800"/>
              </a:spcBef>
              <a:defRPr sz="1800">
                <a:solidFill>
                  <a:srgbClr val="93C5FD"/>
                </a:solidFill>
                <a:latin typeface="Tahoma"/>
              </a:defRPr>
            </a:pPr>
            <a:r>
              <a:t>การวิเคราะห์ข้อมูลเชิงสำรวจและการเตรียมคุณลักษณะ Scopus 10 สาขาวิชาสำหรับ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Tahoma"/>
              </a:defRPr>
            </a:pPr>
            <a:r>
              <a:t>วิชา: การวิเคราะห์ข้อมูลเชิงสำรวจ (Exploratory Data Analysis - EDA) | สอบ Midterm งานกลุ่ม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  <a:latin typeface="Tahoma"/>
              </a:defRPr>
            </a:pPr>
            <a:r>
              <a:t>อาจารย์ผู้สอน: ผู้ช่วยศาสตราจารย์ ดร.โอฬาริก สุรินต๊ะ</a:t>
            </a:r>
          </a:p>
          <a:p>
            <a:pPr>
              <a:spcBef>
                <a:spcPts val="800"/>
              </a:spcBef>
              <a:defRPr sz="1250">
                <a:solidFill>
                  <a:srgbClr val="38BDF8"/>
                </a:solidFill>
                <a:latin typeface="Tahoma"/>
              </a:defRPr>
            </a:pPr>
            <a:r>
              <a:t>กลุ่มผู้จัดทำ: นายณัฐวุฒิ พละศักดิ์ (67011211017) · นายพงศกร ไชยรงศรี (67011211039) · นายอนุรักษ์ งามจันอัด (67011211062) · นายปภังกร กุศล (67011211035)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ที่มาและความสำคัญ: จากข้อมูลวิชาการสู่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1. Scopus Ingestion</a:t>
            </a:r>
            <a:br/>
          </a:p>
          <a:p>
            <a:pPr>
              <a:defRPr sz="1300">
                <a:solidFill>
                  <a:srgbClr val="475569"/>
                </a:solidFill>
                <a:latin typeface="Tahoma"/>
              </a:defRPr>
            </a:pPr>
            <a:r>
              <a:t>• สืบค้นและรวบรวมข้อมูล 10 Subject ในหมวด Computer Science</a:t>
            </a:r>
            <a:br/>
            <a:br/>
            <a:r>
              <a:t>• เป้าหมายอย่างน้อยสาขาละ 600 รายการ รวมกว่า 7,200 รายการดิบ</a:t>
            </a:r>
            <a:br/>
            <a:br/>
            <a:r>
              <a:t>• ครอบคลุมข้อมูลทั้ง Citation, Bibliographical, Abstract, Keywords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2. Rigorous EDA &amp; Cleaning</a:t>
            </a:r>
            <a:br/>
          </a:p>
          <a:p>
            <a:pPr>
              <a:defRPr sz="1300">
                <a:solidFill>
                  <a:srgbClr val="475569"/>
                </a:solidFill>
                <a:latin typeface="Tahoma"/>
              </a:defRPr>
            </a:pPr>
            <a:r>
              <a:t>• กำจัดบทความซ้ำซ้อนข้ามสาขา (1 บทความต่อ 1 สาขาเท่านั้น)</a:t>
            </a:r>
            <a:br/>
            <a:br/>
            <a:r>
              <a:t>• กรองบทความภาษาต่างประเทศ และบทความที่ไม่มีบทคัดย่อ</a:t>
            </a:r>
            <a:br/>
            <a:br/>
            <a:r>
              <a:t>• คัดแยกบทความนอกศาสตร์ (เช่น อสังหาริมทรัพย์, ท่องเที่ยว) ที่หลุดเข้ามา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3. ML Feature Vector</a:t>
            </a:r>
            <a:br/>
          </a:p>
          <a:p>
            <a:pPr>
              <a:defRPr sz="1300">
                <a:solidFill>
                  <a:srgbClr val="475569"/>
                </a:solidFill>
                <a:latin typeface="Tahoma"/>
              </a:defRPr>
            </a:pPr>
            <a:r>
              <a:t>• ประกอบข้อความ Title + Abstract + Keywords</a:t>
            </a:r>
            <a:br/>
            <a:br/>
            <a:r>
              <a:t>• วิเคราะห์ข้อจำกัดความยาว 512 โทเค็นของโมเดล SPECTER2</a:t>
            </a:r>
            <a:br/>
            <a:br/>
            <a:r>
              <a:t>• สกัดเวกเตอร์ 768 มิติ และทำ L2 Normalization พร้อมสำหรับการเทรน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การรวบรวมข้อมูล Scopus 10 สาขาวิชา (7,280 รายการดิบ)</a:t>
            </a:r>
          </a:p>
        </p:txBody>
      </p:sp>
      <p:pic>
        <p:nvPicPr>
          <p:cNvPr id="5" name="Picture 4" descr="fig1_subje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64592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เกณฑ์การจัดเก็บข้อมูล (Scopus)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10 Subject Areas: AI, Computational Theory, Graphics/CAD, Networks, Computer Vision, Hardware, HCI, Information Systems, Signal Processing, Software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ปริมาณข้อมูลดิบ: ดึงมาเฉลี่ยสาขาละ 719–739 รายการ รวม 7,280 รายการ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เกณฑ์ขั้นต่ำ: กำหนดให้อย่างน้อยสาขาละ 600 รายการ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ผลหลังทำความสะอาด: ทุกสาขามีบทความสะอาด 694–704 รายการ (ผ่านเกณฑ์ขั้นต่ำ 100%)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DATA CLEANING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กระบวนการตรวจสอบและทำความสะอาดข้อมูล (ขจัดสิ่งเจือปน 292 รายการ)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1. Remove Duplicates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ahoma"/>
              </a:defRPr>
            </a:pPr>
            <a:r>
              <a:t>ตัดข้อมูลซ้ำซ้อน</a:t>
            </a:r>
          </a:p>
          <a:p>
            <a:pPr>
              <a:spcBef>
                <a:spcPts val="800"/>
              </a:spcBef>
              <a:defRPr sz="1400" b="1">
                <a:solidFill>
                  <a:srgbClr val="2563EB"/>
                </a:solidFill>
                <a:latin typeface="Segoe UI"/>
              </a:defRPr>
            </a:pPr>
            <a:r>
              <a:t>คัดออก: 178 รายการ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บทความปรากฏซ้ำข้ามสาขา เช่น พบบทความเดียวกันใน AI และ Software กำหนดให้อยู่สาขาเดียวเท่านั้น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4688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Language Filter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ahoma"/>
              </a:defRPr>
            </a:pPr>
            <a:r>
              <a:t>กรองบทความต่างภาษา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คัดออก: 25 รายการ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คัดกรองบทความภาษาอื่นที่ไม่ใช่ภาษาอังกฤษ (จีน, สเปน, ฝรั่งเศส, เยอรมัน) เพื่อไม่ให้รบกวน NLP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4688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3. Missing Abstracts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ahoma"/>
              </a:defRPr>
            </a:pPr>
            <a:r>
              <a:t>คัดกรองบทคัดย่อว่าง</a:t>
            </a:r>
          </a:p>
          <a:p>
            <a:pPr>
              <a:spcBef>
                <a:spcPts val="800"/>
              </a:spcBef>
              <a:defRPr sz="1400" b="1">
                <a:solidFill>
                  <a:srgbClr val="F59E0B"/>
                </a:solidFill>
                <a:latin typeface="Segoe UI"/>
              </a:defRPr>
            </a:pPr>
            <a:r>
              <a:t>คัดออก: 30 รายการ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ตัดบทความที่ไม่มีบทคัดย่อ หรือบทคัดย่อสั้นกว่า 40 ตัวอักษร เช่น บทความประเภท Editorial หรือ Correction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4688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4. Domain Leakage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Tahoma"/>
              </a:defRPr>
            </a:pPr>
            <a:r>
              <a:t>ขจัดบทความนอกศาสตร์</a:t>
            </a:r>
          </a:p>
          <a:p>
            <a:pPr>
              <a:spcBef>
                <a:spcPts val="800"/>
              </a:spcBef>
              <a:defRPr sz="1400" b="1">
                <a:solidFill>
                  <a:srgbClr val="EF4444"/>
                </a:solidFill>
                <a:latin typeface="Segoe UI"/>
              </a:defRPr>
            </a:pPr>
            <a:r>
              <a:t>คัดออก: 59 รายการ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กรองบทความที่ไม่เกี่ยวกับคอมฯ เช่น ดัชนีอสังหาริมทรัพย์ดูไบ, การท่องเที่ยว, รากฟันเทียม และผลผลิตข้าวสาลี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สถิติเชิงพรรณนา: แนวโน้มปีที่ตีพิมพ์และการกระจายตัวของ Citation</a:t>
            </a:r>
          </a:p>
        </p:txBody>
      </p:sp>
      <p:pic>
        <p:nvPicPr>
          <p:cNvPr id="5" name="Picture 4" descr="fig2_yea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6" name="Picture 5" descr="fig3_journals_ci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INTERACTIVE VISUALIZATION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Keyword Co-occurrence Network: โครงสร้างความสัมพันธ์คำสำคัญ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  <a:latin typeface="Segoe UI"/>
              </a:defRPr>
            </a:pPr>
            <a:r>
              <a:t>หลักการและความสัมพันธ์กับข้อมูล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โหนด (Nodes): แทนคำสำคัญ โดยรัศมีคำนวณจาก Document Frequency (ความถี่ที่พบในบทความ)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เส้นเชื่อม (Edges): แทนการปรากฏร่วมกัน (Co-occurrence) ความหนาแปรผันตามน้ำหนักความถี่ร่วม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5 Thematic Clusters: จัดกลุ่มชุมชนคำศัพท์ด้วย Modularity: AI, Networks, Vision, HCI, และ Software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การสลับโหมดสี: สลับดู Cluster หรือ Average Publication Year เพื่อดูวิวัฒนาการตามช่วงเวลา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Interactivity: ซูม เลื่อน กรอง Document Threshold และคลิกโหนดเพื่อดูรายการบทความจริง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5 กลุ่มสาระงานวิจัยที่ค้นพบ (Thematic Clusters)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Tahoma"/>
              </a:defRPr>
            </a:pPr>
            <a:r>
              <a:t>● Cluster 1 (น้ำเงิน): AI, Large Models &amp; Deep Learning (transformers, prompt engineering, llms)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Tahoma"/>
              </a:defRPr>
            </a:pPr>
            <a:r>
              <a:t>● Cluster 2 (เขียว): Networks, Cloud &amp; Cybersecurity (iot, 5g, sdn, edge computing)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Tahoma"/>
              </a:defRPr>
            </a:pPr>
            <a:r>
              <a:t>● Cluster 3 (ม่วง): Computer Vision &amp; Pattern Recognition (object detection, yolo, segmentation)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Tahoma"/>
              </a:defRPr>
            </a:pPr>
            <a:r>
              <a:t>● Cluster 4 (ส้ม): HCI, UI/UX &amp; Interactive Systems (virtual reality, user experience, eye tracking)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Tahoma"/>
              </a:defRPr>
            </a:pPr>
            <a:r>
              <a:t>● Cluster 5 (ชมพู): Software Engineering &amp; Architecture (devops, microservices, testing, refactoring)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INTERACTIVE VISUALIZATIONS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Word Cloud ตามช่วงปี และ Cross-Subject Topic Overlap Heatmap</a:t>
            </a:r>
          </a:p>
        </p:txBody>
      </p:sp>
      <p:pic>
        <p:nvPicPr>
          <p:cNvPr id="5" name="Picture 4" descr="fig4_keywor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  <a:latin typeface="Segoe UI"/>
              </a:defRPr>
            </a:pPr>
            <a:r>
              <a:t>ข้อค้นพบจากการวิเคราะห์ข้ามสาขา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Interactive Word Cloud: สามารถฟิลเตอร์ดูรายปี (2020 ถึง 2026) พบว่าคำว่า 'transformers' และ 'large language models' ขยายตัวเร็วที่สุดในกลุ่มคำสำคัญ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AI as General-Purpose Tech: จากแผนภูมิความร้อนด้านซ้าย คำว่า 'deep learning' และ 'machine learning' มีการปรากฏข้ามไปใน Computer Vision, Signal Processing, และ Software อย่างหนาแน่น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Cross-disciplinary Flow: แสดงให้เห็นว่าศาสตร์ทางคอมพิวเตอร์ในปัจจุบันเกิดการบูรณาการเครื่องมือ AI เข้าสู่ทุกสาขาวิชาอย่างชัดเจน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INTERACTIVE VISUALIZATION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Strategic Topic Growth Quadrant: การคาดการณ์แนวโน้มงานวิจัย</a:t>
            </a:r>
          </a:p>
        </p:txBody>
      </p:sp>
      <p:pic>
        <p:nvPicPr>
          <p:cNvPr id="5" name="Picture 4" descr="fig5_topic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  <a:latin typeface="Segoe UI"/>
              </a:defRPr>
            </a:pPr>
            <a:r>
              <a:t>การแบ่ง 4 จตุภาคเชิงยุทธศาสตร์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สูตรการเติบโตเชิงสัมพัทธ์: log2(Recent_2024_2026 / Prior_2020_2023)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High-Volume Emerging (ขวาบน): Large Language Models, Transformers, Foundation Models (โตเร็ว บทความสูง)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Established Topics (ซ้ายบน): Cloud Computing, Wireless Sensor Networks (งานวิจัยหลัก ทรงตัว)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Emerging Niche (ขวาล่าง): Prompt Engineering, Contrastive Learning, Explainable AI (หัวข้อใหม่ โตแรง)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Declining / Stable Niche (ซ้ายล่าง): Shader Programming, Microprocessors ดั้งเดิม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การรวมฟิลด์ข้อความ (Text Concatenation Strategy)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ฟังก์ชันรวมข้อความตาม Colab ของอาจารย์</a:t>
            </a:r>
          </a:p>
          <a:p>
            <a:pPr>
              <a:spcBef>
                <a:spcPts val="800"/>
              </a:spcBef>
              <a:defRPr sz="1100">
                <a:solidFill>
                  <a:srgbClr val="38BDF8"/>
                </a:solidFill>
                <a:latin typeface="Consolas"/>
              </a:defRPr>
            </a:pPr>
            <a:r>
              <a:t>def combine_text(row):</a:t>
            </a:r>
            <a:br/>
            <a:r>
              <a:t>    text_parts = []</a:t>
            </a:r>
            <a:br/>
            <a:r>
              <a:t>    if row['title']:</a:t>
            </a:r>
            <a:br/>
            <a:r>
              <a:t>        text_parts.append(f"Title: {row['title']}")</a:t>
            </a:r>
            <a:br/>
            <a:r>
              <a:t>    if row['abstract']:</a:t>
            </a:r>
            <a:br/>
            <a:r>
              <a:t>        text_parts.append(f"Abstract: {row['abstract']}")</a:t>
            </a:r>
            <a:br/>
            <a:r>
              <a:t>    if row['author_keywords']:</a:t>
            </a:r>
            <a:br/>
            <a:r>
              <a:t>        text_parts.append(f"Author keywords: {row['author_keywords']}")</a:t>
            </a:r>
            <a:br/>
            <a:r>
              <a:t>    if row['index_keywords']:</a:t>
            </a:r>
            <a:br/>
            <a:r>
              <a:t>        text_parts.append(f"Index keywords: {row['index_keywords']}")</a:t>
            </a:r>
            <a:br/>
            <a:r>
              <a:t>    return '\n'.join(text_parts)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  <a:latin typeface="Segoe UI"/>
              </a:defRPr>
            </a:pPr>
            <a:r>
              <a:t>เหตุผลและความสำคัญของโครงสร้างข้อความ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บูรณาการ 4 องค์ประกอบสำคัญ: ผสาน Title, Abstract, Author Keywords และ Index Keywords เป็นประโยคเดี่ยวที่สมบูรณ์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Section Identifiers: ใส่แท็ก 'Title:', 'Abstract:', 'Keywords:' ชัดเจน เพื่อให้โมเดลแยกแยะบทบาทของแต่ละส่วนได้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Semantic Enrichment: Keywords ช่วยเสริมบริบทคำศัพท์เฉพาะทาง ขณะที่ Abstract ให้รายละเอียดบริบทการทดลอง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Tahoma"/>
              </a:defRPr>
            </a:pPr>
            <a:r>
              <a:t>• Consistency: รับประกันว่าข้อมูลนำเข้าของทุกบทความมีรูปแบบสม่ำเสมอสำหรับการ Tokenize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การจัดการข้อจำกัด 512 โทเค็นและโมเดล SPECTER2</a:t>
            </a:r>
          </a:p>
        </p:txBody>
      </p:sp>
      <p:pic>
        <p:nvPicPr>
          <p:cNvPr id="5" name="Picture 4" descr="fig6_embedd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ข้อจำกัด 512 Tokens &amp; SPECTER2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SPECTER2 Base + Proximity Adapter: โมเดลที่เทรนด้วย Citation Graph เหมาะอย่างยิ่งสำหรับงานจับคู่เอกสารทางวิทยาศาสตร์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Max Length 512 Tokens: โมเดลรับได้สูงสุด 512 โทเค็น ข้อมูลมีความยาวเฉลี่ย 318 โทเค็น มีบทความที่เกินเพียงส่วนน้อย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ผลกระทบจากการตัดข้อความ: Keywords อยู่ท้ายข้อความจึงอาจถูกตัดในบทความที่ Abstract ยาวมาก แต่ Title และเนื้อหาหลักยังถูกแปลงเป็นเวกเตอร์ได้อย่างครบถ้วน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Tahoma"/>
              </a:defRPr>
            </a:pPr>
            <a:r>
              <a:t>• Vector Dimension: ส่งออก Dense Representation ขนาด 768 มิติ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FEATURE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L2 Normalization และการนำไปใช้ใน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563EB"/>
                </a:solidFill>
                <a:latin typeface="Segoe UI"/>
              </a:defRPr>
            </a:pPr>
            <a:r>
              <a:t>1. L2 Normalization</a:t>
            </a:r>
            <a:br/>
          </a:p>
          <a:p>
            <a:pPr>
              <a:defRPr sz="1200">
                <a:solidFill>
                  <a:srgbClr val="475569"/>
                </a:solidFill>
                <a:latin typeface="Tahoma"/>
              </a:defRPr>
            </a:pPr>
            <a:r>
              <a:t>• ปรับขนาดเวกเตอร์ด้วยคำสั่ง:</a:t>
            </a:r>
            <a:br/>
            <a:r>
              <a:t>  normalize(embeddings, norm='l2')</a:t>
            </a:r>
            <a:br/>
            <a:br/>
            <a:r>
              <a:t>• เวกเตอร์ทุกตัวมีความยาวเท่ากับ 1 (Unit Euclidean Length)</a:t>
            </a:r>
            <a:br/>
            <a:br/>
            <a:r>
              <a:t>• Cosine Similarity คำนวณได้ทันทีด้วย Dot Product (เร็วกว่าเดิมมาก)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2. Subject Classification</a:t>
            </a:r>
            <a:br/>
          </a:p>
          <a:p>
            <a:pPr>
              <a:defRPr sz="1200">
                <a:solidFill>
                  <a:srgbClr val="475569"/>
                </a:solidFill>
                <a:latin typeface="Tahoma"/>
              </a:defRPr>
            </a:pPr>
            <a:r>
              <a:t>• การจำแนกสาขาวิชาอัตโนมัติ (Supervised Learning)</a:t>
            </a:r>
            <a:br/>
            <a:br/>
            <a:r>
              <a:t>• Features (X): เวกเตอร์ขนาด 768 มิติ</a:t>
            </a:r>
            <a:br/>
            <a:br/>
            <a:r>
              <a:t>• Target (y): 10 สาขาวิชาใน Scopus</a:t>
            </a:r>
            <a:br/>
            <a:br/>
            <a:r>
              <a:t>• โมเดลที่เหมาะสม: Logistic Regression, SVM, หรือ Multi-Layer Perceptron (MLP)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3. Clustering &amp; Search</a:t>
            </a:r>
            <a:br/>
          </a:p>
          <a:p>
            <a:pPr>
              <a:defRPr sz="1200">
                <a:solidFill>
                  <a:srgbClr val="475569"/>
                </a:solidFill>
                <a:latin typeface="Tahoma"/>
              </a:defRPr>
            </a:pPr>
            <a:r>
              <a:t>• Semantic Clustering (K-Means, HDBSCAN) เพื่อค้นพบกลุ่มวิจัยใหม่แบบไม่ต้องมี Label</a:t>
            </a:r>
            <a:br/>
            <a:br/>
            <a:r>
              <a:t>• Semantic Recommendation ด้วย Approximate Nearest Neighbors (ANN)</a:t>
            </a:r>
            <a:br/>
            <a:br/>
            <a:r>
              <a:t>• แนะนำบทความที่เนื้อหาคล้ายกัน แม้ใช้คีย์เวิร์ดคนละคำ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สรุปผลสัมฤทธิ์โครงงานและสิ่งที่ส่งมอบ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สรุปภาพรวมผลการดำเนินงาน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Tahoma"/>
              </a:defRPr>
            </a:pPr>
            <a:r>
              <a:t>✓ ชุดข้อมูลวิชาการ Scopus 10 สาขา: รวบรวมข้อมูลดิบ 7,280 รายการ ผ่านการคลีนเหลือ 6,988 รายการ (ทุกสาขาเกิน 600 รายการอย่างครบถ้วน)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Tahoma"/>
              </a:defRPr>
            </a:pPr>
            <a:r>
              <a:t>✓ การทำความสะอาดข้อมูลตามโจทย์: กำจัดบทความซ้ำข้ามสาขา 178 รายการ, ภาษาต่างประเทศ 25 รายการ, ขาด Abstract 30 รายการ, และบทความนอกศาสตร์ 59 รายการ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Tahoma"/>
              </a:defRPr>
            </a:pPr>
            <a:r>
              <a:t>✓ เว็บ Interactive Dashboard 5 มุมมอง: Co-occurrence Network, Word Cloud, Overlap Heatmap, Topic Quadrant, Document Explorer รันบน Browser ได้ทันทีไม่ต้องลงโปรแกรมเพิ่ม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Tahoma"/>
              </a:defRPr>
            </a:pPr>
            <a:r>
              <a:t>✓ Feature Vector &amp; ML Readiness: สร้างเวกเตอร์ขนาด (6988, 768) ด้วยสถาปัตยกรรม SPECTER2 พร้อม L2 Normalization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Tahoma"/>
              </a:defRPr>
            </a:pPr>
            <a:r>
              <a:t>✓ เอกสารรายงานและสไลด์สมบูรณ์: จัดทำ Report ครบ 3 ส่วนในรูปแบบ DOCX (ฟอนต์ TH Sarabun New) และ PDF พร้อมสไลด์ PPTX และ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Thank You for Your Attention</a:t>
            </a:r>
          </a:p>
          <a:p>
            <a:pPr>
              <a:spcBef>
                <a:spcPts val="1000"/>
              </a:spcBef>
              <a:defRPr sz="2000" b="1">
                <a:solidFill>
                  <a:srgbClr val="93C5FD"/>
                </a:solidFill>
                <a:latin typeface="Tahoma"/>
              </a:defRPr>
            </a:pPr>
            <a:r>
              <a:t>ช่วงถาม-ตอบ (Q &amp; A) และช่องทางเข้าชมผลงานออนไลน์</a:t>
            </a:r>
          </a:p>
          <a:p>
            <a:pPr>
              <a:spcBef>
                <a:spcPts val="1600"/>
              </a:spcBef>
              <a:defRPr sz="1300">
                <a:solidFill>
                  <a:srgbClr val="E2E8F0"/>
                </a:solidFill>
                <a:latin typeface="Tahoma"/>
              </a:defRPr>
            </a:pPr>
            <a:r>
              <a:t>• Online Interactive Dashboard (GitHub Pages): เข้าถึงและทดลองใช้งานกราฟโต้ตอบแบบเรียลไทม์ได้ทันที</a:t>
            </a:r>
            <a:br/>
            <a:r>
              <a:t>• สมาชิกกลุ่ม: ณัฐวุฒิ 67011211017 · พงศกร 67011211039 · อนุรักษ์ 67011211062 · ปภังกร 67011211035</a:t>
            </a:r>
            <a:br/>
            <a:r>
              <a:t>• อาจารย์ผู้สอน: ผศ.ดร.โอฬาริก สุรินต๊ะ (วิชา EDA)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